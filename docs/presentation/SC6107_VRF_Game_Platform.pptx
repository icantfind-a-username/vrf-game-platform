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57200"/>
            <a:ext cx="54864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SC6107 · GROUP PROJECT · MAY 2026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1143000"/>
            <a:ext cx="8046720" cy="1737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400" b="1" dirty="0">
                <a:solidFill>
                  <a:srgbClr val="F1F5F9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On-Chain Verifiable</a:t>
            </a:r>
            <a:endParaRPr lang="en-US" sz="4400" dirty="0"/>
          </a:p>
          <a:p>
            <a:pPr marL="0" indent="0">
              <a:buNone/>
            </a:pPr>
            <a:r>
              <a:rPr lang="en-US" sz="4400" b="1" dirty="0">
                <a:solidFill>
                  <a:srgbClr val="F1F5F9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Random Game Platform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48640" y="2971800"/>
            <a:ext cx="80467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Dice + Lottery on Chainlink VRF v2.5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3611880"/>
            <a:ext cx="80467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Trustless randomness · Pooled house bank · One protocol-wide solvency invariant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4572000"/>
            <a:ext cx="8046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github.com/IcantFind-a-username/vrf-game-platform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595360" y="4297680"/>
            <a:ext cx="365760" cy="45720"/>
          </a:xfrm>
          <a:prstGeom prst="rect">
            <a:avLst/>
          </a:prstGeom>
          <a:solidFill>
            <a:srgbClr val="22D3E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95360" y="4434840"/>
            <a:ext cx="228600" cy="45720"/>
          </a:xfrm>
          <a:prstGeom prst="rect">
            <a:avLst/>
          </a:prstGeom>
          <a:solidFill>
            <a:srgbClr val="06B6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595360" y="4572000"/>
            <a:ext cx="137160" cy="457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3333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contracts  ·  2 layers  ·  4 interfaces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931920" cy="3108960"/>
          </a:xfrm>
          <a:prstGeom prst="rect">
            <a:avLst/>
          </a:prstGeom>
          <a:solidFill>
            <a:srgbClr val="0F172A"/>
          </a:solidFill>
          <a:ln w="12700">
            <a:solidFill>
              <a:srgbClr val="333333"/>
            </a:solidFill>
            <a:prstDash val="solid"/>
          </a:ln>
          <a:effectLst>
            <a:outerShdw blurRad="1016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554480"/>
            <a:ext cx="73152" cy="3108960"/>
          </a:xfrm>
          <a:prstGeom prst="rect">
            <a:avLst/>
          </a:prstGeom>
          <a:solidFill>
            <a:srgbClr val="06B6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783080"/>
            <a:ext cx="35661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LAYER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2103120"/>
            <a:ext cx="35661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Game-agnostic. Audited once for all games.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2606040"/>
            <a:ext cx="3383280" cy="20116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VRFConsumer</a:t>
            </a: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Chainlink VRF v2.5 wrapper</a:t>
            </a:r>
            <a:endParaRPr lang="en-US" sz="1600" dirty="0"/>
          </a:p>
          <a:p>
            <a:pPr marL="0" indent="0">
              <a:buNone/>
            </a:pPr>
            <a:r>
              <a:rPr lang="en-US" sz="1100" i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try/catch isolates faulty consumers</a:t>
            </a:r>
            <a:endParaRPr lang="en-US" sz="1600" dirty="0"/>
          </a:p>
          <a:p>
            <a:pPr marL="0" indent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Treasury</a:t>
            </a: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shared house bank</a:t>
            </a:r>
            <a:endParaRPr lang="en-US" sz="1600" dirty="0"/>
          </a:p>
          <a:p>
            <a:pPr marL="0" indent="0">
              <a:buNone/>
            </a:pPr>
            <a:r>
              <a:rPr lang="en-US" sz="1100" i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invariant: balance ≥ lockedLiquidity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663440" y="1554480"/>
            <a:ext cx="393192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1554480"/>
            <a:ext cx="73152" cy="3108960"/>
          </a:xfrm>
          <a:prstGeom prst="rect">
            <a:avLst/>
          </a:prstGeom>
          <a:solidFill>
            <a:srgbClr val="06B6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1783080"/>
            <a:ext cx="35661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LAYER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937760" y="2103120"/>
            <a:ext cx="35661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Game-specific. Plug-and-play via 4 interfaces.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937760" y="2606040"/>
            <a:ext cx="3383280" cy="20116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DiceGame</a:t>
            </a: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1d6, instant + commit-reveal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Lottery</a:t>
            </a: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pari-mutuel, multi-winner draws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AchievementNFT</a:t>
            </a: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one-shot first-win ERC-721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Referral</a:t>
            </a: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1% commission on referred tickets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48640" y="4800600"/>
            <a:ext cx="8046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⟶  Games call infrastructure via IVRFConsumer / IRandomnessConsumer / ITreasury (never the other way).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Key Technical Decisions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each design choice — and what it buys us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8862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554480"/>
            <a:ext cx="7315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6B6D4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01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508760" y="1618488"/>
            <a:ext cx="27889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Chainlink VRF v2.5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2194560"/>
            <a:ext cx="3474720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Cryptographically verifiable randomness. The consumer wraps the callback in try/catch so a faulty game cannot brick the registry — random words remain retrievable on a follow-up tx.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09160" y="1417320"/>
            <a:ext cx="38862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37760" y="1554480"/>
            <a:ext cx="7315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6B6D4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02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5669280" y="1618488"/>
            <a:ext cx="27889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Commit-Reveal Path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937760" y="2194560"/>
            <a:ext cx="3474720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Players bind their guess (keccak hash + salt) BEFORE the VRF request. Removes the ability for a malicious RPC to peek at the outcome and decide whether to reveal.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108960"/>
            <a:ext cx="38862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77240" y="3246120"/>
            <a:ext cx="7315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6B6D4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03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1508760" y="3310128"/>
            <a:ext cx="27889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Solvency Invariant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77240" y="3886200"/>
            <a:ext cx="3474720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treasury.balance ≥ lockedLiquidity(token), enforced by construction. openBet locks worst-case payout; settleBet releases the full reservation. Verified under 64×32 invariant fuzzing.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09160" y="3108960"/>
            <a:ext cx="38862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937760" y="3246120"/>
            <a:ext cx="7315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6B6D4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04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5669280" y="3310128"/>
            <a:ext cx="27889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Fisher–Yates Draws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937760" y="3886200"/>
            <a:ext cx="3474720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Lottery picks N winners from M tickets using one VRF request and an in-memory shuffle. Uniform-without-replacement; saves N× LINK and N× latency vs. per-winner requests.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8640" y="4800600"/>
            <a:ext cx="8046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four decisions are exercised by the integration &amp; invariant suites — see /docs/architecture.md §7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Engineering Quality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 from the test suite, Slither, and forge --gas-report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87452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508760"/>
            <a:ext cx="1874520" cy="73152"/>
          </a:xfrm>
          <a:prstGeom prst="rect">
            <a:avLst/>
          </a:prstGeom>
          <a:solidFill>
            <a:srgbClr val="06B6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691640"/>
            <a:ext cx="187452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0F172A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137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548640" y="2441448"/>
            <a:ext cx="18745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kern="0" spc="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passing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560320" y="1508760"/>
            <a:ext cx="187452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560320" y="1508760"/>
            <a:ext cx="1874520" cy="73152"/>
          </a:xfrm>
          <a:prstGeom prst="rect">
            <a:avLst/>
          </a:prstGeom>
          <a:solidFill>
            <a:srgbClr val="06B6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60320" y="1691640"/>
            <a:ext cx="187452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F172A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88.97</a:t>
            </a:r>
            <a:r>
              <a:rPr lang="en-US" sz="2000" b="1" dirty="0">
                <a:solidFill>
                  <a:srgbClr val="0F172A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%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2560320" y="2441448"/>
            <a:ext cx="18745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kern="0" spc="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coverage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0" y="1508760"/>
            <a:ext cx="187452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0" y="1508760"/>
            <a:ext cx="1874520" cy="73152"/>
          </a:xfrm>
          <a:prstGeom prst="rect">
            <a:avLst/>
          </a:prstGeom>
          <a:solidFill>
            <a:srgbClr val="06B6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0" y="1691640"/>
            <a:ext cx="187452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0F172A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0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4572000" y="2441448"/>
            <a:ext cx="18745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kern="0" spc="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findings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583680" y="1508760"/>
            <a:ext cx="187452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583680" y="1508760"/>
            <a:ext cx="1874520" cy="73152"/>
          </a:xfrm>
          <a:prstGeom prst="rect">
            <a:avLst/>
          </a:prstGeom>
          <a:solidFill>
            <a:srgbClr val="06B6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0" y="1691640"/>
            <a:ext cx="187452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0F172A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6</a:t>
            </a:r>
            <a:endParaRPr lang="en-US" sz="4400" dirty="0"/>
          </a:p>
        </p:txBody>
      </p:sp>
      <p:sp>
        <p:nvSpPr>
          <p:cNvPr id="19" name="Text 17"/>
          <p:cNvSpPr/>
          <p:nvPr/>
        </p:nvSpPr>
        <p:spPr>
          <a:xfrm>
            <a:off x="6583680" y="2441448"/>
            <a:ext cx="18745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kern="0" spc="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Contracts deployed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3017520"/>
            <a:ext cx="40233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8640" y="3017520"/>
            <a:ext cx="73152" cy="1691640"/>
          </a:xfrm>
          <a:prstGeom prst="rect">
            <a:avLst/>
          </a:prstGeom>
          <a:solidFill>
            <a:srgbClr val="06B6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" y="315468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breakdown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77240" y="3566160"/>
            <a:ext cx="3703320" cy="10972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122</a:t>
            </a: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unit &amp; fuzz tests (per-contract)</a:t>
            </a:r>
            <a:endParaRPr lang="en-US" sz="12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cross-contract integration scenarios</a:t>
            </a:r>
            <a:endParaRPr lang="en-US" sz="12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protocol invariants, 64×32 fuzz runs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754880" y="3017520"/>
            <a:ext cx="38404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54880" y="3017520"/>
            <a:ext cx="73152" cy="1691640"/>
          </a:xfrm>
          <a:prstGeom prst="rect">
            <a:avLst/>
          </a:prstGeom>
          <a:solidFill>
            <a:srgbClr val="06B6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83480" y="315468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gas profile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983480" y="3566160"/>
            <a:ext cx="3520440" cy="10972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Slither: </a:t>
            </a: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 findings, 0 exploitable</a:t>
            </a:r>
            <a:endParaRPr lang="en-US" sz="12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hot-path: </a:t>
            </a: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Treasury.openBet @ 212k gas</a:t>
            </a:r>
            <a:endParaRPr lang="en-US" sz="12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Enabled: </a:t>
            </a: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viaIR + Cancun transient storage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48640" y="4846320"/>
            <a:ext cx="8046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reports: /docs/security-analysis.md  ·  /docs/gas-optimization.md  ·  /docs/coverage-report.txt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6B6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73152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1F5F9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Try It Live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to Ethereum Sepolia · source-verified on Etherscan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8046720" cy="13258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62763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SEPOLIA DEPLOYMENT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77240" y="1920240"/>
            <a:ext cx="7680960" cy="914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1F5F9"/>
                </a:solidFill>
              </a:rPr>
              <a:t>VRFConsumer</a:t>
            </a: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0x64754668789Cc46F7d441c09D9293C97d6257E2C</a:t>
            </a:r>
            <a:endParaRPr lang="en-US" sz="1300" dirty="0"/>
          </a:p>
          <a:p>
            <a:pPr marL="0" indent="0"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F1F5F9"/>
                </a:solidFill>
              </a:rPr>
              <a:t>Treasury</a:t>
            </a: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0x526BD277AF3efc291a98f5958b16783cc9821B75</a:t>
            </a:r>
            <a:endParaRPr lang="en-US" sz="1300" dirty="0"/>
          </a:p>
          <a:p>
            <a:pPr marL="0" indent="0"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300" dirty="0"/>
          </a:p>
          <a:p>
            <a:pPr marL="0" indent="0">
              <a:buNone/>
            </a:pPr>
            <a:r>
              <a:rPr lang="en-US" sz="1000" i="1" dirty="0">
                <a:solidFill>
                  <a:srgbClr val="22D3EE"/>
                </a:solidFill>
              </a:rPr>
              <a:t>Block 10887318 · Chain ID 11155111 · House liquidity preloaded · 2.5% house edge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3017520"/>
            <a:ext cx="2606040" cy="16916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3017520"/>
            <a:ext cx="2606040" cy="45720"/>
          </a:xfrm>
          <a:prstGeom prst="rect">
            <a:avLst/>
          </a:prstGeom>
          <a:solidFill>
            <a:srgbClr val="06B6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3182112"/>
            <a:ext cx="2331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 &amp; DOCS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31520" y="3520440"/>
            <a:ext cx="2331720" cy="10972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</a:t>
            </a: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IcantFind-a-username/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vrf-game-platform</a:t>
            </a:r>
            <a:endParaRPr lang="en-US" sz="1200" dirty="0"/>
          </a:p>
          <a:p>
            <a:pPr marL="0" indent="0">
              <a:buNone/>
            </a:pPr>
            <a:r>
              <a:rPr lang="en-US" sz="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0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/docs/architecture.md</a:t>
            </a:r>
            <a:endParaRPr lang="en-US" sz="1200" dirty="0"/>
          </a:p>
          <a:p>
            <a:pPr marL="0" indent="0">
              <a:buNone/>
            </a:pPr>
            <a:r>
              <a:rPr lang="en-US" sz="10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/docs/security-analysis.md</a:t>
            </a:r>
            <a:endParaRPr lang="en-US" sz="1200" dirty="0"/>
          </a:p>
          <a:p>
            <a:pPr marL="0" indent="0">
              <a:buNone/>
            </a:pPr>
            <a:r>
              <a:rPr lang="en-US" sz="10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/docs/gas-optimization.md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23260" y="3017520"/>
            <a:ext cx="2606040" cy="16916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23260" y="3017520"/>
            <a:ext cx="2606040" cy="45720"/>
          </a:xfrm>
          <a:prstGeom prst="rect">
            <a:avLst/>
          </a:prstGeom>
          <a:solidFill>
            <a:srgbClr val="06B6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06140" y="3182112"/>
            <a:ext cx="2331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406140" y="3520440"/>
            <a:ext cx="2331720" cy="10972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wagmi/viem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ABIs pre-exported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/abi-export/</a:t>
            </a:r>
            <a:endParaRPr lang="en-US" sz="1200" dirty="0"/>
          </a:p>
          <a:p>
            <a:pPr marL="0" indent="0">
              <a:buNone/>
            </a:pPr>
            <a:r>
              <a:rPr lang="en-US" sz="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0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walkthrough</a:t>
            </a:r>
            <a:endParaRPr lang="en-US" sz="1200" dirty="0"/>
          </a:p>
          <a:p>
            <a:pPr marL="0" indent="0">
              <a:buNone/>
            </a:pPr>
            <a:r>
              <a:rPr lang="en-US" sz="10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Member 4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897880" y="3017520"/>
            <a:ext cx="2606040" cy="16916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97880" y="3017520"/>
            <a:ext cx="2606040" cy="45720"/>
          </a:xfrm>
          <a:prstGeom prst="rect">
            <a:avLst/>
          </a:prstGeom>
          <a:solidFill>
            <a:srgbClr val="06B6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80760" y="3182112"/>
            <a:ext cx="2331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080760" y="3520440"/>
            <a:ext cx="2331720" cy="10972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Multi-token wagers</a:t>
            </a:r>
            <a:endParaRPr lang="en-US" sz="12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(ERC-20 path ready)</a:t>
            </a:r>
            <a:endParaRPr lang="en-US" sz="1200" dirty="0"/>
          </a:p>
          <a:p>
            <a:pPr marL="0" indent="0">
              <a:buNone/>
            </a:pPr>
            <a:r>
              <a:rPr lang="en-US" sz="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Multisig on Treasury</a:t>
            </a:r>
            <a:endParaRPr lang="en-US" sz="1200" dirty="0"/>
          </a:p>
          <a:p>
            <a:pPr marL="0" indent="0">
              <a:buNone/>
            </a:pPr>
            <a:r>
              <a:rPr lang="en-US" sz="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deployment</a:t>
            </a:r>
            <a:endParaRPr lang="en-US" sz="12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(Base / Arbitrum)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" y="4846320"/>
            <a:ext cx="8046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·  Questions welcome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2940</Words>
  <Application>WPS 文字</Application>
  <PresentationFormat>On-screen Show (16:9)</PresentationFormat>
  <Paragraphs>142</Paragraphs>
  <Slides>5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22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28" baseType="lpstr">
      <vt:lpstr>Arial</vt:lpstr>
      <vt:lpstr>宋体</vt:lpstr>
      <vt:lpstr>Wingdings</vt:lpstr>
      <vt:lpstr>Calibri</vt:lpstr>
      <vt:lpstr>Helvetica Neue</vt:lpstr>
      <vt:lpstr>Calibri</vt:lpstr>
      <vt:lpstr>Calibri</vt:lpstr>
      <vt:lpstr>Georgia</vt:lpstr>
      <vt:lpstr>Georgia</vt:lpstr>
      <vt:lpstr>Georgia</vt:lpstr>
      <vt:lpstr>Consolas</vt:lpstr>
      <vt:lpstr>Consolas</vt:lpstr>
      <vt:lpstr>Consolas</vt:lpstr>
      <vt:lpstr>微软雅黑</vt:lpstr>
      <vt:lpstr>汉仪旗黑</vt:lpstr>
      <vt:lpstr>宋体</vt:lpstr>
      <vt:lpstr>Arial Unicode MS</vt:lpstr>
      <vt:lpstr>等线</vt:lpstr>
      <vt:lpstr>汉仪中等线KW</vt:lpstr>
      <vt:lpstr>汉仪书宋二KW</vt:lpstr>
      <vt:lpstr>苹方-简</vt:lpstr>
      <vt:lpstr>Apple Symbols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SC6107 Group Project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On-Chain Verifiable Random Game Platform</dc:title>
  <dc:creator>Maxine (Member 5)</dc:creator>
  <dc:subject>PptxGenJS Presentation</dc:subject>
  <cp:lastModifiedBy>一只麻瓜</cp:lastModifiedBy>
  <cp:revision>2</cp:revision>
  <dcterms:created xsi:type="dcterms:W3CDTF">2026-05-22T09:31:30Z</dcterms:created>
  <dcterms:modified xsi:type="dcterms:W3CDTF">2026-05-22T09:31:30Z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CC7269478292B8D97222106A230D3A16_42</vt:lpwstr>
  </property>
  <property fmtid="{D5CDD505-2E9C-101B-9397-08002B2CF9AE}" pid="3" name="KSOProductBuildVer">
    <vt:lpwstr>2052-12.1.25869.25869</vt:lpwstr>
  </property>
</Properties>
</file>